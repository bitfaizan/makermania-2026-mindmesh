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Nov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DFE979-D4DD-4CF3-8464-E808CBECC0AF}" type="doc">
      <dgm:prSet loTypeId="urn:microsoft.com/office/officeart/2005/8/layout/matrix3" loCatId="matrix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318364E-1736-4B75-AE34-80F33C1DBAC5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Hygiene inspection + customer reviews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CB18B0-54CE-421B-B06C-80B69FDC5AD9}" type="parTrans" cxnId="{2106247C-FCC0-4029-BA8F-D5AFA7B2B428}">
      <dgm:prSet/>
      <dgm:spPr/>
      <dgm:t>
        <a:bodyPr/>
        <a:lstStyle/>
        <a:p>
          <a:endParaRPr lang="en-IN"/>
        </a:p>
      </dgm:t>
    </dgm:pt>
    <dgm:pt modelId="{54E70D1D-7861-4764-91A3-6D43385CEAE0}" type="sibTrans" cxnId="{2106247C-FCC0-4029-BA8F-D5AFA7B2B428}">
      <dgm:prSet/>
      <dgm:spPr/>
      <dgm:t>
        <a:bodyPr/>
        <a:lstStyle/>
        <a:p>
          <a:endParaRPr lang="en-IN"/>
        </a:p>
      </dgm:t>
    </dgm:pt>
    <dgm:pt modelId="{C72C91FB-23AC-409C-BF45-6CD9AB95A021}">
      <dgm:prSet custT="1"/>
      <dgm:spPr/>
      <dgm:t>
        <a:bodyPr/>
        <a:lstStyle/>
        <a:p>
          <a:r>
            <a:rPr lang="en-US" sz="4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IoT sensors + AI image analysis</a:t>
          </a:r>
          <a:endParaRPr lang="en-IN" sz="4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65D6B3-A966-453F-A228-E56C8D97DBAE}" type="parTrans" cxnId="{7BCE54C6-DA9D-4719-AB57-1B84BC65C534}">
      <dgm:prSet/>
      <dgm:spPr/>
      <dgm:t>
        <a:bodyPr/>
        <a:lstStyle/>
        <a:p>
          <a:endParaRPr lang="en-IN"/>
        </a:p>
      </dgm:t>
    </dgm:pt>
    <dgm:pt modelId="{BAEE336D-7AA8-4FC2-8144-5F37C879E559}" type="sibTrans" cxnId="{7BCE54C6-DA9D-4719-AB57-1B84BC65C534}">
      <dgm:prSet/>
      <dgm:spPr/>
      <dgm:t>
        <a:bodyPr/>
        <a:lstStyle/>
        <a:p>
          <a:endParaRPr lang="en-IN"/>
        </a:p>
      </dgm:t>
    </dgm:pt>
    <dgm:pt modelId="{95AD5125-48A4-444B-AD2A-07C0D39C1A96}">
      <dgm:prSet custT="1"/>
      <dgm:spPr/>
      <dgm:t>
        <a:bodyPr/>
        <a:lstStyle/>
        <a:p>
          <a:r>
            <a:rPr lang="en-US" sz="4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Food safety + business reputation</a:t>
          </a:r>
          <a:endParaRPr lang="en-IN" sz="4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9B107A-7D6E-40DE-8979-5A5732D5C10D}" type="parTrans" cxnId="{B5B307CD-F3B2-420D-93E7-C9F4EE0D4009}">
      <dgm:prSet/>
      <dgm:spPr/>
      <dgm:t>
        <a:bodyPr/>
        <a:lstStyle/>
        <a:p>
          <a:endParaRPr lang="en-IN"/>
        </a:p>
      </dgm:t>
    </dgm:pt>
    <dgm:pt modelId="{F054DA79-DE6C-436F-B464-38A9D37457CA}" type="sibTrans" cxnId="{B5B307CD-F3B2-420D-93E7-C9F4EE0D4009}">
      <dgm:prSet/>
      <dgm:spPr/>
      <dgm:t>
        <a:bodyPr/>
        <a:lstStyle/>
        <a:p>
          <a:endParaRPr lang="en-IN"/>
        </a:p>
      </dgm:t>
    </dgm:pt>
    <dgm:pt modelId="{489E1EB7-31A5-473F-A216-008EF8862AA2}">
      <dgm:prSet custT="1"/>
      <dgm:spPr/>
      <dgm:t>
        <a:bodyPr/>
        <a:lstStyle/>
        <a:p>
          <a:r>
            <a:rPr lang="en-US" sz="4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Government inspectors + community reporting</a:t>
          </a:r>
          <a:endParaRPr lang="en-IN" sz="4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EE2D14-A5BB-43DE-9266-FD9677B33BA8}" type="parTrans" cxnId="{E62EE652-D17E-4210-AF34-8C7982145603}">
      <dgm:prSet/>
      <dgm:spPr/>
      <dgm:t>
        <a:bodyPr/>
        <a:lstStyle/>
        <a:p>
          <a:endParaRPr lang="en-IN"/>
        </a:p>
      </dgm:t>
    </dgm:pt>
    <dgm:pt modelId="{933FCE37-E541-41DD-9239-E48950E92ACE}" type="sibTrans" cxnId="{E62EE652-D17E-4210-AF34-8C7982145603}">
      <dgm:prSet/>
      <dgm:spPr/>
      <dgm:t>
        <a:bodyPr/>
        <a:lstStyle/>
        <a:p>
          <a:endParaRPr lang="en-IN"/>
        </a:p>
      </dgm:t>
    </dgm:pt>
    <dgm:pt modelId="{1912B69A-DFAE-46FA-824B-D64D12B7FB07}" type="pres">
      <dgm:prSet presAssocID="{88DFE979-D4DD-4CF3-8464-E808CBECC0AF}" presName="matrix" presStyleCnt="0">
        <dgm:presLayoutVars>
          <dgm:chMax val="1"/>
          <dgm:dir/>
          <dgm:resizeHandles val="exact"/>
        </dgm:presLayoutVars>
      </dgm:prSet>
      <dgm:spPr/>
    </dgm:pt>
    <dgm:pt modelId="{EB72D23D-A286-47BA-95F6-B617CCD91407}" type="pres">
      <dgm:prSet presAssocID="{88DFE979-D4DD-4CF3-8464-E808CBECC0AF}" presName="diamond" presStyleLbl="bgShp" presStyleIdx="0" presStyleCnt="1"/>
      <dgm:spPr/>
    </dgm:pt>
    <dgm:pt modelId="{B222338B-7F0C-4C2E-A8AD-C100063D79BE}" type="pres">
      <dgm:prSet presAssocID="{88DFE979-D4DD-4CF3-8464-E808CBECC0A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D05C8A-694F-46EC-9BE1-01E5D2119840}" type="pres">
      <dgm:prSet presAssocID="{88DFE979-D4DD-4CF3-8464-E808CBECC0A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462376-1576-49F4-A111-D395550F5E3F}" type="pres">
      <dgm:prSet presAssocID="{88DFE979-D4DD-4CF3-8464-E808CBECC0A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92C5CB-19EC-49B4-9DB2-BB1F12692833}" type="pres">
      <dgm:prSet presAssocID="{88DFE979-D4DD-4CF3-8464-E808CBECC0A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5946A19-DC1B-460B-8EDA-E75A1AFAFA1A}" type="presOf" srcId="{95AD5125-48A4-444B-AD2A-07C0D39C1A96}" destId="{8C462376-1576-49F4-A111-D395550F5E3F}" srcOrd="0" destOrd="0" presId="urn:microsoft.com/office/officeart/2005/8/layout/matrix3"/>
    <dgm:cxn modelId="{0E698B20-8592-4D09-8101-AE306FCE1F9A}" type="presOf" srcId="{C72C91FB-23AC-409C-BF45-6CD9AB95A021}" destId="{80D05C8A-694F-46EC-9BE1-01E5D2119840}" srcOrd="0" destOrd="0" presId="urn:microsoft.com/office/officeart/2005/8/layout/matrix3"/>
    <dgm:cxn modelId="{315CB322-84F8-4A40-99D9-F34097BAEFC4}" type="presOf" srcId="{2318364E-1736-4B75-AE34-80F33C1DBAC5}" destId="{B222338B-7F0C-4C2E-A8AD-C100063D79BE}" srcOrd="0" destOrd="0" presId="urn:microsoft.com/office/officeart/2005/8/layout/matrix3"/>
    <dgm:cxn modelId="{E62EE652-D17E-4210-AF34-8C7982145603}" srcId="{88DFE979-D4DD-4CF3-8464-E808CBECC0AF}" destId="{489E1EB7-31A5-473F-A216-008EF8862AA2}" srcOrd="3" destOrd="0" parTransId="{65EE2D14-A5BB-43DE-9266-FD9677B33BA8}" sibTransId="{933FCE37-E541-41DD-9239-E48950E92ACE}"/>
    <dgm:cxn modelId="{2106247C-FCC0-4029-BA8F-D5AFA7B2B428}" srcId="{88DFE979-D4DD-4CF3-8464-E808CBECC0AF}" destId="{2318364E-1736-4B75-AE34-80F33C1DBAC5}" srcOrd="0" destOrd="0" parTransId="{6DCB18B0-54CE-421B-B06C-80B69FDC5AD9}" sibTransId="{54E70D1D-7861-4764-91A3-6D43385CEAE0}"/>
    <dgm:cxn modelId="{96F7A7AE-19A0-4A2F-BE6B-45C06A8EBCB8}" type="presOf" srcId="{489E1EB7-31A5-473F-A216-008EF8862AA2}" destId="{8592C5CB-19EC-49B4-9DB2-BB1F12692833}" srcOrd="0" destOrd="0" presId="urn:microsoft.com/office/officeart/2005/8/layout/matrix3"/>
    <dgm:cxn modelId="{7BCE54C6-DA9D-4719-AB57-1B84BC65C534}" srcId="{88DFE979-D4DD-4CF3-8464-E808CBECC0AF}" destId="{C72C91FB-23AC-409C-BF45-6CD9AB95A021}" srcOrd="1" destOrd="0" parTransId="{1365D6B3-A966-453F-A228-E56C8D97DBAE}" sibTransId="{BAEE336D-7AA8-4FC2-8144-5F37C879E559}"/>
    <dgm:cxn modelId="{B5B307CD-F3B2-420D-93E7-C9F4EE0D4009}" srcId="{88DFE979-D4DD-4CF3-8464-E808CBECC0AF}" destId="{95AD5125-48A4-444B-AD2A-07C0D39C1A96}" srcOrd="2" destOrd="0" parTransId="{759B107A-7D6E-40DE-8979-5A5732D5C10D}" sibTransId="{F054DA79-DE6C-436F-B464-38A9D37457CA}"/>
    <dgm:cxn modelId="{C178BDDD-8CB5-493F-9683-78C351FBB23C}" type="presOf" srcId="{88DFE979-D4DD-4CF3-8464-E808CBECC0AF}" destId="{1912B69A-DFAE-46FA-824B-D64D12B7FB07}" srcOrd="0" destOrd="0" presId="urn:microsoft.com/office/officeart/2005/8/layout/matrix3"/>
    <dgm:cxn modelId="{B7D81D44-306A-447A-A95C-248755B60E87}" type="presParOf" srcId="{1912B69A-DFAE-46FA-824B-D64D12B7FB07}" destId="{EB72D23D-A286-47BA-95F6-B617CCD91407}" srcOrd="0" destOrd="0" presId="urn:microsoft.com/office/officeart/2005/8/layout/matrix3"/>
    <dgm:cxn modelId="{2727637B-E9AE-4E61-9542-05BD5995ADC9}" type="presParOf" srcId="{1912B69A-DFAE-46FA-824B-D64D12B7FB07}" destId="{B222338B-7F0C-4C2E-A8AD-C100063D79BE}" srcOrd="1" destOrd="0" presId="urn:microsoft.com/office/officeart/2005/8/layout/matrix3"/>
    <dgm:cxn modelId="{1FF09380-5102-4E1D-9C35-83E3090FAAB0}" type="presParOf" srcId="{1912B69A-DFAE-46FA-824B-D64D12B7FB07}" destId="{80D05C8A-694F-46EC-9BE1-01E5D2119840}" srcOrd="2" destOrd="0" presId="urn:microsoft.com/office/officeart/2005/8/layout/matrix3"/>
    <dgm:cxn modelId="{85039288-2CF0-4176-8C53-9A0DFB8FE845}" type="presParOf" srcId="{1912B69A-DFAE-46FA-824B-D64D12B7FB07}" destId="{8C462376-1576-49F4-A111-D395550F5E3F}" srcOrd="3" destOrd="0" presId="urn:microsoft.com/office/officeart/2005/8/layout/matrix3"/>
    <dgm:cxn modelId="{AB986CD7-75B4-43B4-8718-388BE80B5392}" type="presParOf" srcId="{1912B69A-DFAE-46FA-824B-D64D12B7FB07}" destId="{8592C5CB-19EC-49B4-9DB2-BB1F1269283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2D23D-A286-47BA-95F6-B617CCD91407}">
      <dsp:nvSpPr>
        <dsp:cNvPr id="0" name=""/>
        <dsp:cNvSpPr/>
      </dsp:nvSpPr>
      <dsp:spPr>
        <a:xfrm>
          <a:off x="415978" y="0"/>
          <a:ext cx="8693042" cy="8693042"/>
        </a:xfrm>
        <a:prstGeom prst="diamond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2338B-7F0C-4C2E-A8AD-C100063D79BE}">
      <dsp:nvSpPr>
        <dsp:cNvPr id="0" name=""/>
        <dsp:cNvSpPr/>
      </dsp:nvSpPr>
      <dsp:spPr>
        <a:xfrm>
          <a:off x="1241817" y="825838"/>
          <a:ext cx="3390286" cy="33902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Hygiene inspection + customer reviews</a:t>
          </a:r>
          <a:endParaRPr lang="en-IN" sz="4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07317" y="991338"/>
        <a:ext cx="3059286" cy="3059286"/>
      </dsp:txXfrm>
    </dsp:sp>
    <dsp:sp modelId="{80D05C8A-694F-46EC-9BE1-01E5D2119840}">
      <dsp:nvSpPr>
        <dsp:cNvPr id="0" name=""/>
        <dsp:cNvSpPr/>
      </dsp:nvSpPr>
      <dsp:spPr>
        <a:xfrm>
          <a:off x="4892895" y="825838"/>
          <a:ext cx="3390286" cy="33902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IoT sensors + AI image analysis</a:t>
          </a:r>
          <a:endParaRPr lang="en-IN" sz="4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58395" y="991338"/>
        <a:ext cx="3059286" cy="3059286"/>
      </dsp:txXfrm>
    </dsp:sp>
    <dsp:sp modelId="{8C462376-1576-49F4-A111-D395550F5E3F}">
      <dsp:nvSpPr>
        <dsp:cNvPr id="0" name=""/>
        <dsp:cNvSpPr/>
      </dsp:nvSpPr>
      <dsp:spPr>
        <a:xfrm>
          <a:off x="1241817" y="4476916"/>
          <a:ext cx="3390286" cy="33902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Food safety + business reputation</a:t>
          </a:r>
          <a:endParaRPr lang="en-IN" sz="4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07317" y="4642416"/>
        <a:ext cx="3059286" cy="3059286"/>
      </dsp:txXfrm>
    </dsp:sp>
    <dsp:sp modelId="{8592C5CB-19EC-49B4-9DB2-BB1F12692833}">
      <dsp:nvSpPr>
        <dsp:cNvPr id="0" name=""/>
        <dsp:cNvSpPr/>
      </dsp:nvSpPr>
      <dsp:spPr>
        <a:xfrm>
          <a:off x="4892895" y="4476916"/>
          <a:ext cx="3390286" cy="33902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Government inspectors + community reporting</a:t>
          </a:r>
          <a:endParaRPr lang="en-IN" sz="4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58395" y="4642416"/>
        <a:ext cx="3059286" cy="3059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A0684-BA00-4A50-A585-F703C024F53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866FB-9F55-43F4-83EA-3E54C5E11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8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866FB-9F55-43F4-83EA-3E54C5E119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1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805642" y="6328543"/>
            <a:ext cx="6101358" cy="394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7"/>
              </a:lnSpc>
            </a:pPr>
            <a:r>
              <a:rPr lang="en-US" sz="18297" b="1" spc="-16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PITCH DECK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3518" y="6172199"/>
            <a:ext cx="4468274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79"/>
              </a:lnSpc>
            </a:pPr>
            <a:r>
              <a:rPr lang="en-US" sz="6399" b="1" spc="-255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SCAMPER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91600" y="345750"/>
            <a:ext cx="231296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9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91600" y="952500"/>
            <a:ext cx="3886200" cy="1396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Aft>
                <a:spcPts val="300"/>
              </a:spcAft>
            </a:pPr>
            <a:r>
              <a:rPr lang="en-US" sz="4000" spc="-96" dirty="0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Pavitra Patil</a:t>
            </a:r>
          </a:p>
          <a:p>
            <a:pPr algn="l">
              <a:lnSpc>
                <a:spcPts val="3359"/>
              </a:lnSpc>
              <a:spcAft>
                <a:spcPts val="300"/>
              </a:spcAft>
            </a:pPr>
            <a:r>
              <a:rPr lang="en-US" sz="4000" spc="-96" dirty="0" err="1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Faizan</a:t>
            </a:r>
            <a:r>
              <a:rPr lang="en-US" sz="4000" spc="-96" dirty="0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 Rabbani</a:t>
            </a:r>
          </a:p>
          <a:p>
            <a:pPr algn="l">
              <a:lnSpc>
                <a:spcPts val="3359"/>
              </a:lnSpc>
              <a:spcAft>
                <a:spcPts val="300"/>
              </a:spcAft>
            </a:pPr>
            <a:r>
              <a:rPr lang="en-US" sz="4000" spc="-96" dirty="0" err="1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Shalaka</a:t>
            </a:r>
            <a:r>
              <a:rPr lang="en-US" sz="4000" spc="-96" dirty="0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 </a:t>
            </a:r>
            <a:r>
              <a:rPr lang="en-US" sz="4000" spc="-96" dirty="0" err="1">
                <a:solidFill>
                  <a:srgbClr val="000000"/>
                </a:solidFill>
                <a:latin typeface="Times New Roman" panose="02020603050405020304" pitchFamily="18" charset="0"/>
                <a:ea typeface="Arial Nova"/>
                <a:cs typeface="Times New Roman" panose="02020603050405020304" pitchFamily="18" charset="0"/>
                <a:sym typeface="Arial Nova"/>
              </a:rPr>
              <a:t>Sonje</a:t>
            </a:r>
            <a:endParaRPr lang="en-US" sz="4000" spc="-96" dirty="0">
              <a:solidFill>
                <a:srgbClr val="000000"/>
              </a:solidFill>
              <a:latin typeface="Times New Roman" panose="02020603050405020304" pitchFamily="18" charset="0"/>
              <a:ea typeface="Arial Nova"/>
              <a:cs typeface="Times New Roman" panose="02020603050405020304" pitchFamily="18" charset="0"/>
              <a:sym typeface="Arial Nova"/>
            </a:endParaRPr>
          </a:p>
        </p:txBody>
      </p:sp>
      <p:grpSp>
        <p:nvGrpSpPr>
          <p:cNvPr id="7" name="Group 7"/>
          <p:cNvGrpSpPr/>
          <p:nvPr/>
        </p:nvGrpSpPr>
        <p:grpSpPr>
          <a:xfrm rot="5400000">
            <a:off x="-534390" y="6981825"/>
            <a:ext cx="3734790" cy="1904010"/>
            <a:chOff x="0" y="0"/>
            <a:chExt cx="647700" cy="33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" cy="330200"/>
            </a:xfrm>
            <a:custGeom>
              <a:avLst/>
              <a:gdLst/>
              <a:ahLst/>
              <a:cxnLst/>
              <a:rect l="l" t="t" r="r" b="b"/>
              <a:pathLst>
                <a:path w="647700" h="3302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52400" y="3175"/>
              <a:ext cx="342900" cy="327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285010" y="6066435"/>
            <a:ext cx="3734790" cy="373479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200" y="1485900"/>
            <a:ext cx="17526000" cy="18472727"/>
          </a:xfrm>
          <a:custGeom>
            <a:avLst/>
            <a:gdLst/>
            <a:ahLst/>
            <a:cxnLst/>
            <a:rect l="l" t="t" r="r" b="b"/>
            <a:pathLst>
              <a:path w="17526000" h="18472727">
                <a:moveTo>
                  <a:pt x="0" y="0"/>
                </a:moveTo>
                <a:lnTo>
                  <a:pt x="17526000" y="0"/>
                </a:lnTo>
                <a:lnTo>
                  <a:pt x="17526000" y="18472727"/>
                </a:lnTo>
                <a:lnTo>
                  <a:pt x="0" y="18472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1000" y="6834504"/>
            <a:ext cx="6096000" cy="3228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endParaRPr dirty="0"/>
          </a:p>
          <a:p>
            <a:pPr algn="l">
              <a:lnSpc>
                <a:spcPts val="8320"/>
              </a:lnSpc>
            </a:pPr>
            <a:r>
              <a:rPr lang="en-US" sz="10400" b="1" spc="-936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BASE IDEA</a:t>
            </a:r>
          </a:p>
          <a:p>
            <a:pPr algn="l">
              <a:lnSpc>
                <a:spcPts val="8320"/>
              </a:lnSpc>
            </a:pPr>
            <a:endParaRPr lang="en-US" sz="10400" b="1" spc="-936" dirty="0">
              <a:solidFill>
                <a:srgbClr val="000000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21686-1B79-4EF3-9DC2-8F56342CE53F}"/>
              </a:ext>
            </a:extLst>
          </p:cNvPr>
          <p:cNvSpPr txBox="1"/>
          <p:nvPr/>
        </p:nvSpPr>
        <p:spPr>
          <a:xfrm>
            <a:off x="908426" y="1300233"/>
            <a:ext cx="1570317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6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grades street food stalls and small eateries on hygiene, food safety, and quality, giving them an easy-to-understand score (A, B, C, D) similar to systems used in places like Singapore.</a:t>
            </a:r>
            <a:endParaRPr lang="en-US" sz="6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6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BEA8B-BB44-4D50-BA29-BB2E7B4BBBB7}"/>
              </a:ext>
            </a:extLst>
          </p:cNvPr>
          <p:cNvSpPr txBox="1"/>
          <p:nvPr/>
        </p:nvSpPr>
        <p:spPr>
          <a:xfrm>
            <a:off x="9952950" y="3238500"/>
            <a:ext cx="68872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84961" y="-1071670"/>
            <a:ext cx="15809652" cy="12430339"/>
          </a:xfrm>
          <a:custGeom>
            <a:avLst/>
            <a:gdLst/>
            <a:ahLst/>
            <a:cxnLst/>
            <a:rect l="l" t="t" r="r" b="b"/>
            <a:pathLst>
              <a:path w="15809652" h="12430339">
                <a:moveTo>
                  <a:pt x="0" y="0"/>
                </a:moveTo>
                <a:lnTo>
                  <a:pt x="15809652" y="0"/>
                </a:lnTo>
                <a:lnTo>
                  <a:pt x="15809652" y="12430339"/>
                </a:lnTo>
                <a:lnTo>
                  <a:pt x="0" y="12430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6952969" y="4142242"/>
            <a:ext cx="14667938" cy="16102527"/>
          </a:xfrm>
          <a:custGeom>
            <a:avLst/>
            <a:gdLst/>
            <a:ahLst/>
            <a:cxnLst/>
            <a:rect l="l" t="t" r="r" b="b"/>
            <a:pathLst>
              <a:path w="14667938" h="16102527">
                <a:moveTo>
                  <a:pt x="0" y="16102527"/>
                </a:moveTo>
                <a:lnTo>
                  <a:pt x="14667938" y="16102527"/>
                </a:lnTo>
                <a:lnTo>
                  <a:pt x="14667938" y="0"/>
                </a:lnTo>
                <a:lnTo>
                  <a:pt x="0" y="0"/>
                </a:lnTo>
                <a:lnTo>
                  <a:pt x="0" y="16102527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7800" y="1065177"/>
            <a:ext cx="8043460" cy="173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8100" b="1" spc="-729" dirty="0">
                <a:solidFill>
                  <a:srgbClr val="EDECE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 — SUBSTITUTE</a:t>
            </a:r>
          </a:p>
          <a:p>
            <a:pPr algn="l">
              <a:lnSpc>
                <a:spcPts val="6480"/>
              </a:lnSpc>
            </a:pPr>
            <a:endParaRPr lang="en-US" sz="8100" b="1" spc="-729" dirty="0">
              <a:solidFill>
                <a:srgbClr val="EDECEB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27A7E-9915-4B17-ADC8-55F4B0C07BCE}"/>
              </a:ext>
            </a:extLst>
          </p:cNvPr>
          <p:cNvSpPr txBox="1"/>
          <p:nvPr/>
        </p:nvSpPr>
        <p:spPr>
          <a:xfrm>
            <a:off x="407773" y="2781300"/>
            <a:ext cx="91771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can be replaced?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manual inspections with AI-assisted inspections.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 b="0" i="0" u="none" strike="noStrike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expensive lab tests with quick sensor-based measurements.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paper certificates with QR codes.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annual inspections with continuous monitoring.</a:t>
            </a:r>
            <a:endParaRPr lang="en-US" sz="36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895EE-150F-45D3-84FB-9D5873126267}"/>
              </a:ext>
            </a:extLst>
          </p:cNvPr>
          <p:cNvSpPr txBox="1"/>
          <p:nvPr/>
        </p:nvSpPr>
        <p:spPr>
          <a:xfrm>
            <a:off x="10810317" y="2042636"/>
            <a:ext cx="667947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000" b="0" i="0" u="none" strike="noStrike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4000" b="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QR code outside the stall lets customers see: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Hygiene score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 inspection date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complaints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110000">
            <a:off x="-2316222" y="-4002374"/>
            <a:ext cx="11097995" cy="12183428"/>
          </a:xfrm>
          <a:custGeom>
            <a:avLst/>
            <a:gdLst/>
            <a:ahLst/>
            <a:cxnLst/>
            <a:rect l="l" t="t" r="r" b="b"/>
            <a:pathLst>
              <a:path w="11097995" h="12183428">
                <a:moveTo>
                  <a:pt x="0" y="0"/>
                </a:moveTo>
                <a:lnTo>
                  <a:pt x="11097995" y="0"/>
                </a:lnTo>
                <a:lnTo>
                  <a:pt x="11097995" y="12183427"/>
                </a:lnTo>
                <a:lnTo>
                  <a:pt x="0" y="1218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24400" y="386080"/>
            <a:ext cx="8110200" cy="117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10400" b="1" spc="-936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 — COMBINE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92FCB5B-E935-819B-2EE0-7AA3FECDA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390821"/>
              </p:ext>
            </p:extLst>
          </p:nvPr>
        </p:nvGraphicFramePr>
        <p:xfrm>
          <a:off x="3810000" y="1562101"/>
          <a:ext cx="9525000" cy="869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D0A1BD-66A5-4E75-8F0A-42D6B52FD839}"/>
              </a:ext>
            </a:extLst>
          </p:cNvPr>
          <p:cNvSpPr txBox="1"/>
          <p:nvPr/>
        </p:nvSpPr>
        <p:spPr>
          <a:xfrm flipH="1">
            <a:off x="19354800" y="3086100"/>
            <a:ext cx="2440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47800" y="993809"/>
            <a:ext cx="8610600" cy="222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10400" b="1" spc="-936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— ADAPT</a:t>
            </a:r>
          </a:p>
          <a:p>
            <a:pPr algn="l">
              <a:lnSpc>
                <a:spcPts val="8320"/>
              </a:lnSpc>
            </a:pPr>
            <a:endParaRPr lang="en-US" sz="10400" b="1" spc="-936" dirty="0">
              <a:solidFill>
                <a:srgbClr val="000000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6EE0A-AE41-428B-A906-191D4111E3BC}"/>
              </a:ext>
            </a:extLst>
          </p:cNvPr>
          <p:cNvSpPr txBox="1"/>
          <p:nvPr/>
        </p:nvSpPr>
        <p:spPr>
          <a:xfrm>
            <a:off x="938980" y="2566362"/>
            <a:ext cx="95766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existing systems can be adapted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Singapore food grading system</a:t>
            </a: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Hotel star ratings</a:t>
            </a: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Uber driver ratings</a:t>
            </a: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models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B4630-6C9C-4CDC-A3EF-CE56266ED49F}"/>
              </a:ext>
            </a:extLst>
          </p:cNvPr>
          <p:cNvSpPr txBox="1"/>
          <p:nvPr/>
        </p:nvSpPr>
        <p:spPr>
          <a:xfrm flipH="1">
            <a:off x="-1524000" y="4305300"/>
            <a:ext cx="2617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24400" y="-6591300"/>
            <a:ext cx="16958294" cy="17867934"/>
          </a:xfrm>
          <a:custGeom>
            <a:avLst/>
            <a:gdLst/>
            <a:ahLst/>
            <a:cxnLst/>
            <a:rect l="l" t="t" r="r" b="b"/>
            <a:pathLst>
              <a:path w="16958294" h="17867934">
                <a:moveTo>
                  <a:pt x="0" y="0"/>
                </a:moveTo>
                <a:lnTo>
                  <a:pt x="16958294" y="0"/>
                </a:lnTo>
                <a:lnTo>
                  <a:pt x="16958294" y="17867934"/>
                </a:lnTo>
                <a:lnTo>
                  <a:pt x="0" y="17867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14450" y="572445"/>
            <a:ext cx="7277100" cy="2769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31"/>
              </a:lnSpc>
            </a:pPr>
            <a:r>
              <a:rPr lang="en-US" sz="8789" b="1" spc="-791" dirty="0">
                <a:solidFill>
                  <a:srgbClr val="EDECE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 — MODIFY / MAGNIFY</a:t>
            </a:r>
          </a:p>
          <a:p>
            <a:pPr algn="l">
              <a:lnSpc>
                <a:spcPts val="7031"/>
              </a:lnSpc>
            </a:pPr>
            <a:endParaRPr lang="en-US" sz="8789" b="1" spc="-791" dirty="0">
              <a:solidFill>
                <a:srgbClr val="EDECEB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E02EC-D745-4C44-B0AB-63E4AFD9520E}"/>
              </a:ext>
            </a:extLst>
          </p:cNvPr>
          <p:cNvSpPr txBox="1"/>
          <p:nvPr/>
        </p:nvSpPr>
        <p:spPr>
          <a:xfrm>
            <a:off x="1314450" y="2628900"/>
            <a:ext cx="909407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4000" b="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u="none" strike="noStrike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can be enhanced?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4000" b="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Kitchen temperature tracked continuously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Handwash station usage counted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camera detects dirty surfaces</a:t>
            </a:r>
            <a:endParaRPr lang="en-US" sz="4000" b="0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4000" b="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49AC8-E758-41C4-B40E-3295F918EA12}"/>
              </a:ext>
            </a:extLst>
          </p:cNvPr>
          <p:cNvSpPr txBox="1"/>
          <p:nvPr/>
        </p:nvSpPr>
        <p:spPr>
          <a:xfrm flipH="1">
            <a:off x="20802600" y="1562100"/>
            <a:ext cx="221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4000" b="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</a:b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000" y="6972394"/>
            <a:ext cx="10134600" cy="3133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64"/>
              </a:lnSpc>
            </a:pPr>
            <a:r>
              <a:rPr lang="en-US" sz="9955" b="1" spc="-895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 — PUT TO ANOTHER USE</a:t>
            </a:r>
          </a:p>
          <a:p>
            <a:pPr algn="l">
              <a:lnSpc>
                <a:spcPts val="7964"/>
              </a:lnSpc>
            </a:pPr>
            <a:endParaRPr lang="en-US" sz="9955" b="1" spc="-895" dirty="0">
              <a:solidFill>
                <a:srgbClr val="000000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81000" y="2677503"/>
            <a:ext cx="1181100" cy="11811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A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24600" y="2677503"/>
            <a:ext cx="1181100" cy="1181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A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72307" y="2677503"/>
            <a:ext cx="1176993" cy="117699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A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E3C6C8-D759-4F15-9DB8-EFD914C029EF}"/>
              </a:ext>
            </a:extLst>
          </p:cNvPr>
          <p:cNvSpPr txBox="1"/>
          <p:nvPr/>
        </p:nvSpPr>
        <p:spPr>
          <a:xfrm>
            <a:off x="936382" y="572445"/>
            <a:ext cx="866972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else can it do?</a:t>
            </a:r>
            <a:endParaRPr lang="en-US" sz="4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tourists find safe food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delivery apps select vendors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municipalities prioritize inspections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vendors get loans based on hygiene ratings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3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B8D14-017E-483B-B279-B87AD6AA5878}"/>
              </a:ext>
            </a:extLst>
          </p:cNvPr>
          <p:cNvSpPr txBox="1"/>
          <p:nvPr/>
        </p:nvSpPr>
        <p:spPr>
          <a:xfrm>
            <a:off x="19583400" y="1451364"/>
            <a:ext cx="7800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08759">
            <a:off x="7837746" y="-6749680"/>
            <a:ext cx="16619677" cy="12485532"/>
          </a:xfrm>
          <a:custGeom>
            <a:avLst/>
            <a:gdLst/>
            <a:ahLst/>
            <a:cxnLst/>
            <a:rect l="l" t="t" r="r" b="b"/>
            <a:pathLst>
              <a:path w="16619677" h="12485532">
                <a:moveTo>
                  <a:pt x="0" y="0"/>
                </a:moveTo>
                <a:lnTo>
                  <a:pt x="16619677" y="0"/>
                </a:lnTo>
                <a:lnTo>
                  <a:pt x="16619677" y="12485532"/>
                </a:lnTo>
                <a:lnTo>
                  <a:pt x="0" y="12485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42105">
            <a:off x="-5089946" y="6484676"/>
            <a:ext cx="18282880" cy="13735014"/>
          </a:xfrm>
          <a:custGeom>
            <a:avLst/>
            <a:gdLst/>
            <a:ahLst/>
            <a:cxnLst/>
            <a:rect l="l" t="t" r="r" b="b"/>
            <a:pathLst>
              <a:path w="18282880" h="13735014">
                <a:moveTo>
                  <a:pt x="0" y="0"/>
                </a:moveTo>
                <a:lnTo>
                  <a:pt x="18282881" y="0"/>
                </a:lnTo>
                <a:lnTo>
                  <a:pt x="18282881" y="13735014"/>
                </a:lnTo>
                <a:lnTo>
                  <a:pt x="0" y="13735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29400" y="1275695"/>
            <a:ext cx="10115550" cy="2223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10400" b="1" spc="-936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 — ELIMINATE</a:t>
            </a:r>
          </a:p>
          <a:p>
            <a:pPr algn="ctr">
              <a:lnSpc>
                <a:spcPts val="8320"/>
              </a:lnSpc>
            </a:pPr>
            <a:endParaRPr lang="en-US" sz="10400" b="1" spc="-936" dirty="0">
              <a:solidFill>
                <a:srgbClr val="000000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8DB16-27F6-49B7-9164-89A05432B729}"/>
              </a:ext>
            </a:extLst>
          </p:cNvPr>
          <p:cNvSpPr txBox="1"/>
          <p:nvPr/>
        </p:nvSpPr>
        <p:spPr>
          <a:xfrm>
            <a:off x="1295400" y="3009900"/>
            <a:ext cx="8686800" cy="3490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can be removed?</a:t>
            </a:r>
            <a:endParaRPr lang="en-US" sz="4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subjective human bias.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complicated forms.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unnecessary inspections. </a:t>
            </a:r>
            <a:endParaRPr lang="en-US" sz="4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CD4F0-0FA6-4E54-BA96-31B9A7A8B0D8}"/>
              </a:ext>
            </a:extLst>
          </p:cNvPr>
          <p:cNvSpPr txBox="1"/>
          <p:nvPr/>
        </p:nvSpPr>
        <p:spPr>
          <a:xfrm>
            <a:off x="22416141" y="3820061"/>
            <a:ext cx="781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5657494" y="1118671"/>
            <a:ext cx="988873" cy="504131"/>
            <a:chOff x="0" y="0"/>
            <a:chExt cx="647700" cy="330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7700" cy="330200"/>
            </a:xfrm>
            <a:custGeom>
              <a:avLst/>
              <a:gdLst/>
              <a:ahLst/>
              <a:cxnLst/>
              <a:rect l="l" t="t" r="r" b="b"/>
              <a:pathLst>
                <a:path w="647700" h="3302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3175"/>
              <a:ext cx="342900" cy="327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98433" y="876300"/>
            <a:ext cx="494437" cy="988873"/>
            <a:chOff x="0" y="0"/>
            <a:chExt cx="406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400" cy="812800"/>
            </a:xfrm>
            <a:custGeom>
              <a:avLst/>
              <a:gdLst/>
              <a:ahLst/>
              <a:cxnLst/>
              <a:rect l="l" t="t" r="r" b="b"/>
              <a:pathLst>
                <a:path w="406400" h="812800">
                  <a:moveTo>
                    <a:pt x="203200" y="0"/>
                  </a:moveTo>
                  <a:cubicBezTo>
                    <a:pt x="90976" y="0"/>
                    <a:pt x="0" y="181951"/>
                    <a:pt x="0" y="406400"/>
                  </a:cubicBezTo>
                  <a:cubicBezTo>
                    <a:pt x="0" y="630849"/>
                    <a:pt x="90976" y="812800"/>
                    <a:pt x="203200" y="812800"/>
                  </a:cubicBezTo>
                  <a:cubicBezTo>
                    <a:pt x="315424" y="812800"/>
                    <a:pt x="406400" y="630849"/>
                    <a:pt x="406400" y="406400"/>
                  </a:cubicBezTo>
                  <a:cubicBezTo>
                    <a:pt x="406400" y="181951"/>
                    <a:pt x="315424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38100" y="28575"/>
              <a:ext cx="330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03997" y="876300"/>
            <a:ext cx="494437" cy="988873"/>
            <a:chOff x="0" y="0"/>
            <a:chExt cx="406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6400" cy="812800"/>
            </a:xfrm>
            <a:custGeom>
              <a:avLst/>
              <a:gdLst/>
              <a:ahLst/>
              <a:cxnLst/>
              <a:rect l="l" t="t" r="r" b="b"/>
              <a:pathLst>
                <a:path w="406400" h="812800">
                  <a:moveTo>
                    <a:pt x="203200" y="0"/>
                  </a:moveTo>
                  <a:cubicBezTo>
                    <a:pt x="90976" y="0"/>
                    <a:pt x="0" y="181951"/>
                    <a:pt x="0" y="406400"/>
                  </a:cubicBezTo>
                  <a:cubicBezTo>
                    <a:pt x="0" y="630849"/>
                    <a:pt x="90976" y="812800"/>
                    <a:pt x="203200" y="812800"/>
                  </a:cubicBezTo>
                  <a:cubicBezTo>
                    <a:pt x="315424" y="812800"/>
                    <a:pt x="406400" y="630849"/>
                    <a:pt x="406400" y="406400"/>
                  </a:cubicBezTo>
                  <a:cubicBezTo>
                    <a:pt x="406400" y="181951"/>
                    <a:pt x="315424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38100" y="28575"/>
              <a:ext cx="330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>
            <a:off x="12959293" y="1949221"/>
            <a:ext cx="10971425" cy="11564084"/>
          </a:xfrm>
          <a:custGeom>
            <a:avLst/>
            <a:gdLst/>
            <a:ahLst/>
            <a:cxnLst/>
            <a:rect l="l" t="t" r="r" b="b"/>
            <a:pathLst>
              <a:path w="10971425" h="11564084">
                <a:moveTo>
                  <a:pt x="0" y="0"/>
                </a:moveTo>
                <a:lnTo>
                  <a:pt x="10971425" y="0"/>
                </a:lnTo>
                <a:lnTo>
                  <a:pt x="10971425" y="11564084"/>
                </a:lnTo>
                <a:lnTo>
                  <a:pt x="0" y="11564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516749" y="763890"/>
            <a:ext cx="7467539" cy="258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5"/>
              </a:lnSpc>
            </a:pPr>
            <a:r>
              <a:rPr lang="en-US" sz="8219" b="1" spc="-739" dirty="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 — REVERSE / REARRANGE</a:t>
            </a:r>
          </a:p>
          <a:p>
            <a:pPr algn="l">
              <a:lnSpc>
                <a:spcPts val="6575"/>
              </a:lnSpc>
            </a:pPr>
            <a:endParaRPr lang="en-US" sz="8219" b="1" spc="-739" dirty="0">
              <a:solidFill>
                <a:srgbClr val="000000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83B9C-EF27-4F00-8D3D-8C9C5329753C}"/>
              </a:ext>
            </a:extLst>
          </p:cNvPr>
          <p:cNvSpPr txBox="1"/>
          <p:nvPr/>
        </p:nvSpPr>
        <p:spPr>
          <a:xfrm>
            <a:off x="3363321" y="2476500"/>
            <a:ext cx="112776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if customers become inspectors?</a:t>
            </a:r>
            <a:br>
              <a:rPr lang="en-US" sz="4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Customers upload images</a:t>
            </a:r>
            <a:br>
              <a:rPr lang="en-US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AI checks cleanliness.</a:t>
            </a:r>
            <a:br>
              <a:rPr lang="en-US" sz="4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Complaints accumulate.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Stall score changes dynamically.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Inspector only visits suspicious stalls.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609212" flipH="1">
            <a:off x="-3776487" y="-6348710"/>
            <a:ext cx="12264025" cy="14200450"/>
          </a:xfrm>
          <a:custGeom>
            <a:avLst/>
            <a:gdLst/>
            <a:ahLst/>
            <a:cxnLst/>
            <a:rect l="l" t="t" r="r" b="b"/>
            <a:pathLst>
              <a:path w="12264025" h="14200450">
                <a:moveTo>
                  <a:pt x="12264025" y="0"/>
                </a:moveTo>
                <a:lnTo>
                  <a:pt x="0" y="0"/>
                </a:lnTo>
                <a:lnTo>
                  <a:pt x="0" y="14200450"/>
                </a:lnTo>
                <a:lnTo>
                  <a:pt x="12264025" y="14200450"/>
                </a:lnTo>
                <a:lnTo>
                  <a:pt x="12264025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1000" y="381000"/>
            <a:ext cx="500212" cy="382890"/>
          </a:xfrm>
          <a:custGeom>
            <a:avLst/>
            <a:gdLst/>
            <a:ahLst/>
            <a:cxnLst/>
            <a:rect l="l" t="t" r="r" b="b"/>
            <a:pathLst>
              <a:path w="500212" h="382890">
                <a:moveTo>
                  <a:pt x="0" y="0"/>
                </a:moveTo>
                <a:lnTo>
                  <a:pt x="500212" y="0"/>
                </a:lnTo>
                <a:lnTo>
                  <a:pt x="500212" y="382890"/>
                </a:lnTo>
                <a:lnTo>
                  <a:pt x="0" y="382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857500"/>
            <a:ext cx="9873258" cy="3948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637"/>
              </a:lnSpc>
            </a:pPr>
            <a:r>
              <a:rPr lang="en-US" sz="18297" b="1" spc="-1646" dirty="0">
                <a:solidFill>
                  <a:srgbClr val="EDECE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00" y="8239849"/>
            <a:ext cx="5638800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FFF9A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MINDMESH</a:t>
            </a:r>
          </a:p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FFF9A3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MAKERMANIA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306</Words>
  <Application>Microsoft Office PowerPoint</Application>
  <PresentationFormat>Custom</PresentationFormat>
  <Paragraphs>74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Calibri</vt:lpstr>
      <vt:lpstr>Aptos</vt:lpstr>
      <vt:lpstr>Arial Nova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Pavitra Patil Faizan Rabbani Shalaka Sonje</dc:title>
  <dc:creator>Admin</dc:creator>
  <cp:lastModifiedBy>Faizan Rabbani</cp:lastModifiedBy>
  <cp:revision>7</cp:revision>
  <dcterms:created xsi:type="dcterms:W3CDTF">2006-08-16T00:00:00Z</dcterms:created>
  <dcterms:modified xsi:type="dcterms:W3CDTF">2026-06-09T07:12:06Z</dcterms:modified>
  <dc:identifier>DAHMAAx2kfM</dc:identifier>
</cp:coreProperties>
</file>