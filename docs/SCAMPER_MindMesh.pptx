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2A70"/>
    <a:srgbClr val="FF2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8" d="100"/>
          <a:sy n="118" d="100"/>
        </p:scale>
        <p:origin x="763" y="-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814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5080">
            <a:solidFill>
              <a:srgbClr val="FF2D7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FF2D7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5080">
            <a:solidFill>
              <a:srgbClr val="FF2D7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5080">
            <a:solidFill>
              <a:srgbClr val="FF2D7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566160"/>
            <a:ext cx="9144000" cy="0"/>
          </a:xfrm>
          <a:prstGeom prst="line">
            <a:avLst/>
          </a:prstGeom>
          <a:noFill/>
          <a:ln w="5080">
            <a:solidFill>
              <a:srgbClr val="FF2D78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FF2D7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-274320" y="1097280"/>
            <a:ext cx="9144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FF2D78">
                    <a:alpha val="1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SCAMPER</a:t>
            </a:r>
            <a:endParaRPr lang="en-US" sz="16000" dirty="0"/>
          </a:p>
        </p:txBody>
      </p:sp>
      <p:sp>
        <p:nvSpPr>
          <p:cNvPr id="20" name="Shape 18"/>
          <p:cNvSpPr/>
          <p:nvPr/>
        </p:nvSpPr>
        <p:spPr>
          <a:xfrm>
            <a:off x="411480" y="539496"/>
            <a:ext cx="5943600" cy="2194560"/>
          </a:xfrm>
          <a:prstGeom prst="rect">
            <a:avLst/>
          </a:prstGeom>
          <a:solidFill>
            <a:srgbClr val="00F5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" y="475488"/>
            <a:ext cx="5943600" cy="2194560"/>
          </a:xfrm>
          <a:prstGeom prst="rect">
            <a:avLst/>
          </a:prstGeom>
          <a:solidFill>
            <a:srgbClr val="FF2D78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502920"/>
            <a:ext cx="5943600" cy="2194560"/>
          </a:xfrm>
          <a:prstGeom prst="rect">
            <a:avLst/>
          </a:prstGeom>
          <a:solidFill>
            <a:srgbClr val="0A0A0A"/>
          </a:solidFill>
          <a:ln w="38100">
            <a:solidFill>
              <a:srgbClr val="FF2D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6692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200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24936" y="1083572"/>
            <a:ext cx="5774695" cy="1280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PITCH DECK</a:t>
            </a:r>
            <a:endParaRPr lang="en-US" sz="6200" dirty="0"/>
          </a:p>
        </p:txBody>
      </p:sp>
      <p:sp>
        <p:nvSpPr>
          <p:cNvPr id="25" name="Shape 23"/>
          <p:cNvSpPr/>
          <p:nvPr/>
        </p:nvSpPr>
        <p:spPr>
          <a:xfrm>
            <a:off x="365760" y="2697480"/>
            <a:ext cx="1920240" cy="347472"/>
          </a:xfrm>
          <a:prstGeom prst="rect">
            <a:avLst/>
          </a:prstGeom>
          <a:solidFill>
            <a:srgbClr val="00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69748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MAKERMANIA 2026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502920"/>
            <a:ext cx="2240280" cy="2560320"/>
          </a:xfrm>
          <a:prstGeom prst="rect">
            <a:avLst/>
          </a:prstGeom>
          <a:solidFill>
            <a:srgbClr val="111111"/>
          </a:solidFill>
          <a:ln w="31750">
            <a:solidFill>
              <a:srgbClr val="00F5FF"/>
            </a:solidFill>
            <a:prstDash val="solid"/>
          </a:ln>
          <a:effectLst>
            <a:outerShdw blurRad="228600" dist="50800" dir="2700000" algn="bl" rotWithShape="0">
              <a:srgbClr val="00F5FF">
                <a:alpha val="7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29400" y="594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9400" y="96012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00" b="1" dirty="0">
                <a:solidFill>
                  <a:srgbClr val="F5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Faizan Rabbani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Pavitra Patil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Shalaka Sonje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2D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MINDMESH  ✦  FOOD HYGIENE GRADING SYSTEM  ✦  MAKERMANIA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457200"/>
            <a:ext cx="36576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0" b="1" dirty="0">
                <a:solidFill>
                  <a:srgbClr val="FF2D78">
                    <a:alpha val="12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2194560" cy="384048"/>
          </a:xfrm>
          <a:prstGeom prst="rect">
            <a:avLst/>
          </a:prstGeom>
          <a:solidFill>
            <a:srgbClr val="FF2D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IDEA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685800" cy="685800"/>
          </a:xfrm>
          <a:prstGeom prst="rect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0392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0A0A"/>
                </a:solidFill>
              </a:rPr>
              <a:t>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5819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80160" y="868680"/>
            <a:ext cx="685800" cy="685800"/>
          </a:xfrm>
          <a:prstGeom prst="rect">
            <a:avLst/>
          </a:prstGeom>
          <a:solidFill>
            <a:srgbClr val="F5FF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850392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0A0A"/>
                </a:solidFill>
              </a:rPr>
              <a:t>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234440" y="15819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03120" y="868680"/>
            <a:ext cx="685800" cy="6858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850392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0A0A"/>
                </a:solidFill>
              </a:rPr>
              <a:t>C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057400" y="15819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868680"/>
            <a:ext cx="685800" cy="685800"/>
          </a:xfrm>
          <a:prstGeom prst="rect">
            <a:avLst/>
          </a:prstGeom>
          <a:solidFill>
            <a:srgbClr val="FF2D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850392"/>
            <a:ext cx="685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0A0A"/>
                </a:solidFill>
              </a:rPr>
              <a:t>D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880360" y="15819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5120640" cy="2651760"/>
          </a:xfrm>
          <a:prstGeom prst="rect">
            <a:avLst/>
          </a:prstGeom>
          <a:solidFill>
            <a:srgbClr val="111111"/>
          </a:solidFill>
          <a:ln w="31750">
            <a:solidFill>
              <a:srgbClr val="00F5FF"/>
            </a:solidFill>
            <a:prstDash val="solid"/>
          </a:ln>
          <a:effectLst>
            <a:outerShdw blurRad="228600" dist="50800" dir="2700000" algn="bl" rotWithShape="0">
              <a:srgbClr val="00F5FF">
                <a:alpha val="7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057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242316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grades street food stalls &amp; small eateries on hygiene, food safety, and quality — giving them an easy-to-understand score (A, B, C, D) like Singapore's world-class system.</a:t>
            </a:r>
            <a:endParaRPr lang="en-US" sz="16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914400" cy="914400"/>
          </a:xfrm>
          <a:prstGeom prst="rect">
            <a:avLst/>
          </a:prstGeom>
        </p:spPr>
      </p:pic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103120"/>
            <a:ext cx="731520" cy="731520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9260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-731520"/>
            <a:ext cx="54864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0" b="1" dirty="0">
                <a:solidFill>
                  <a:srgbClr val="FF2D78">
                    <a:alpha val="12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50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 —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SUBSTITUTE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926080" cy="310896"/>
          </a:xfrm>
          <a:prstGeom prst="rect">
            <a:avLst/>
          </a:prstGeom>
          <a:solidFill>
            <a:srgbClr val="FF2D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BE REPLACED?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0482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inspections → AI-assisted inspections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487168"/>
            <a:ext cx="4572000" cy="0"/>
          </a:xfrm>
          <a:prstGeom prst="line">
            <a:avLst/>
          </a:prstGeom>
          <a:noFill/>
          <a:ln w="6350">
            <a:solidFill>
              <a:srgbClr val="00F5FF">
                <a:alpha val="5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974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7340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lab tests → Quick sensor measurements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3172968"/>
            <a:ext cx="4572000" cy="0"/>
          </a:xfrm>
          <a:prstGeom prst="line">
            <a:avLst/>
          </a:prstGeom>
          <a:noFill/>
          <a:ln w="6350">
            <a:solidFill>
              <a:srgbClr val="9B30FF">
                <a:alpha val="50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832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4198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certificates → QR code system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3858768"/>
            <a:ext cx="4572000" cy="0"/>
          </a:xfrm>
          <a:prstGeom prst="line">
            <a:avLst/>
          </a:prstGeom>
          <a:noFill/>
          <a:ln w="6350">
            <a:solidFill>
              <a:srgbClr val="F5FF00">
                <a:alpha val="5000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690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41056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inspections → Continuous monitoring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57200" y="4544568"/>
            <a:ext cx="4572000" cy="0"/>
          </a:xfrm>
          <a:prstGeom prst="line">
            <a:avLst/>
          </a:prstGeom>
          <a:noFill/>
          <a:ln w="63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577840" y="1417320"/>
            <a:ext cx="3200400" cy="3429000"/>
          </a:xfrm>
          <a:prstGeom prst="rect">
            <a:avLst/>
          </a:prstGeom>
          <a:solidFill>
            <a:srgbClr val="111111"/>
          </a:solidFill>
          <a:ln w="31750">
            <a:solidFill>
              <a:srgbClr val="F5FF00"/>
            </a:solidFill>
            <a:prstDash val="solid"/>
          </a:ln>
          <a:effectLst>
            <a:outerShdw blurRad="228600" dist="50800" dir="2700000" algn="bl" rotWithShape="0">
              <a:srgbClr val="F5FF00">
                <a:alpha val="70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566928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5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669280" y="18288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outside the stall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customers instantly see: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669280" y="2606040"/>
            <a:ext cx="3017520" cy="530352"/>
          </a:xfrm>
          <a:prstGeom prst="rect">
            <a:avLst/>
          </a:prstGeom>
          <a:solidFill>
            <a:srgbClr val="222222"/>
          </a:solidFill>
          <a:ln w="19050">
            <a:solidFill>
              <a:srgbClr val="00FF88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267919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36208" y="2697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Score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5669280" y="3264408"/>
            <a:ext cx="3017520" cy="530352"/>
          </a:xfrm>
          <a:prstGeom prst="rect">
            <a:avLst/>
          </a:prstGeom>
          <a:solidFill>
            <a:srgbClr val="222222"/>
          </a:solidFill>
          <a:ln w="19050">
            <a:solidFill>
              <a:srgbClr val="00F5FF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6440" y="333756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236208" y="33558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Inspection Date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669280" y="3922776"/>
            <a:ext cx="3017520" cy="530352"/>
          </a:xfrm>
          <a:prstGeom prst="rect">
            <a:avLst/>
          </a:prstGeom>
          <a:solidFill>
            <a:srgbClr val="222222"/>
          </a:solidFill>
          <a:ln w="19050">
            <a:solidFill>
              <a:srgbClr val="FF2D78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6440" y="3995928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236208" y="4014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2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7315200"/>
          </a:xfrm>
          <a:prstGeom prst="rect">
            <a:avLst/>
          </a:prstGeom>
          <a:solidFill>
            <a:srgbClr val="9B30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B3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 —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COMBINE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11480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9B3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931920" y="28346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9B30FF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840480" cy="1371600"/>
          </a:xfrm>
          <a:prstGeom prst="rect">
            <a:avLst/>
          </a:prstGeom>
          <a:solidFill>
            <a:srgbClr val="111111"/>
          </a:solidFill>
          <a:ln w="31750">
            <a:solidFill>
              <a:srgbClr val="FF2D78"/>
            </a:solidFill>
            <a:prstDash val="solid"/>
          </a:ln>
          <a:effectLst>
            <a:outerShdw blurRad="203200" dist="50800" dir="2700000" algn="bl" rotWithShape="0">
              <a:srgbClr val="FF2D78">
                <a:alpha val="6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Hygiene inspection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920240"/>
            <a:ext cx="3840480" cy="1371600"/>
          </a:xfrm>
          <a:prstGeom prst="rect">
            <a:avLst/>
          </a:prstGeom>
          <a:solidFill>
            <a:srgbClr val="111111"/>
          </a:solidFill>
          <a:ln w="31750">
            <a:solidFill>
              <a:srgbClr val="00F5FF"/>
            </a:solidFill>
            <a:prstDash val="solid"/>
          </a:ln>
          <a:effectLst>
            <a:outerShdw blurRad="203200" dist="50800" dir="2700000" algn="bl" rotWithShape="0">
              <a:srgbClr val="00F5FF">
                <a:alpha val="6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66360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sensors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66360" y="2560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analysis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840480" cy="1371600"/>
          </a:xfrm>
          <a:prstGeom prst="rect">
            <a:avLst/>
          </a:prstGeom>
          <a:solidFill>
            <a:srgbClr val="111111"/>
          </a:solidFill>
          <a:ln w="31750">
            <a:solidFill>
              <a:srgbClr val="F5FF00"/>
            </a:solidFill>
            <a:prstDash val="solid"/>
          </a:ln>
          <a:effectLst>
            <a:outerShdw blurRad="203200" dist="50800" dir="2700000" algn="bl" rotWithShape="0">
              <a:srgbClr val="F5FF00">
                <a:alpha val="6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611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safety data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4114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reputation score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3474720"/>
            <a:ext cx="3840480" cy="1371600"/>
          </a:xfrm>
          <a:prstGeom prst="rect">
            <a:avLst/>
          </a:prstGeom>
          <a:solidFill>
            <a:srgbClr val="111111"/>
          </a:solidFill>
          <a:ln w="31750">
            <a:solidFill>
              <a:srgbClr val="00FF88"/>
            </a:solidFill>
            <a:prstDash val="solid"/>
          </a:ln>
          <a:effectLst>
            <a:outerShdw blurRad="203200" dist="50800" dir="2700000" algn="bl" rotWithShape="0">
              <a:srgbClr val="00FF88">
                <a:alpha val="6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66360" y="3611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Govt inspectors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66360" y="4114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reporting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-457200"/>
            <a:ext cx="59436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0" b="1" dirty="0">
                <a:solidFill>
                  <a:srgbClr val="FF6B00">
                    <a:alpha val="12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5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—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57600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EXISTING SYSTEMS CAN BE ADAPTED?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303520" cy="594360"/>
          </a:xfrm>
          <a:prstGeom prst="rect">
            <a:avLst/>
          </a:prstGeom>
          <a:solidFill>
            <a:srgbClr val="111111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65960"/>
            <a:ext cx="411480" cy="594360"/>
          </a:xfrm>
          <a:prstGeom prst="rect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0025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Food Grading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2677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gold standard for street food safety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5303520" cy="594360"/>
          </a:xfrm>
          <a:prstGeom prst="rect">
            <a:avLst/>
          </a:prstGeom>
          <a:solidFill>
            <a:srgbClr val="111111"/>
          </a:solidFill>
          <a:ln w="19050">
            <a:solidFill>
              <a:srgbClr val="00F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97480"/>
            <a:ext cx="411480" cy="594360"/>
          </a:xfrm>
          <a:prstGeom prst="rect">
            <a:avLst/>
          </a:prstGeom>
          <a:solidFill>
            <a:srgbClr val="00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974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" y="27340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Star Ratings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Universal, understood in 5 seconds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5303520" cy="594360"/>
          </a:xfrm>
          <a:prstGeom prst="rect">
            <a:avLst/>
          </a:prstGeom>
          <a:solidFill>
            <a:srgbClr val="111111"/>
          </a:solidFill>
          <a:ln w="19050">
            <a:solidFill>
              <a:srgbClr val="F5FF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29000"/>
            <a:ext cx="411480" cy="594360"/>
          </a:xfrm>
          <a:prstGeom prst="rect">
            <a:avLst/>
          </a:prstGeom>
          <a:solidFill>
            <a:srgbClr val="F5FF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290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34655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Driver Ratings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37307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Crowd-sourced, real-time, gamified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5303520" cy="594360"/>
          </a:xfrm>
          <a:prstGeom prst="rect">
            <a:avLst/>
          </a:prstGeom>
          <a:solidFill>
            <a:srgbClr val="111111"/>
          </a:solidFill>
          <a:ln w="19050">
            <a:solidFill>
              <a:srgbClr val="FF2D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60520"/>
            <a:ext cx="411480" cy="594360"/>
          </a:xfrm>
          <a:prstGeom prst="rect">
            <a:avLst/>
          </a:prstGeom>
          <a:solidFill>
            <a:srgbClr val="FF2D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6052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0120" y="41970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Score Models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44622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data-driven, rewards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 —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MODIFY / MAGNIFY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310896"/>
          </a:xfrm>
          <a:prstGeom prst="rect">
            <a:avLst/>
          </a:prstGeom>
          <a:solidFill>
            <a:srgbClr val="F5FF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BE ENHANCED?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743200" cy="2926080"/>
          </a:xfrm>
          <a:prstGeom prst="rect">
            <a:avLst/>
          </a:prstGeom>
          <a:solidFill>
            <a:srgbClr val="222222"/>
          </a:solidFill>
          <a:ln w="25400">
            <a:solidFill>
              <a:srgbClr val="F5FF00"/>
            </a:solidFill>
            <a:prstDash val="solid"/>
          </a:ln>
          <a:effectLst>
            <a:outerShdw blurRad="254000" dist="50800" dir="2700000" algn="bl" rotWithShape="0">
              <a:srgbClr val="F5FF00">
                <a:alpha val="6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05740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788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365760" y="35478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Temperature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40416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continuously via IoT sensors, not just on inspection day.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18688" y="1920240"/>
            <a:ext cx="2743200" cy="2926080"/>
          </a:xfrm>
          <a:prstGeom prst="rect">
            <a:avLst/>
          </a:prstGeom>
          <a:solidFill>
            <a:srgbClr val="222222"/>
          </a:solidFill>
          <a:ln w="25400">
            <a:solidFill>
              <a:srgbClr val="9B30FF"/>
            </a:solidFill>
            <a:prstDash val="solid"/>
          </a:ln>
          <a:effectLst>
            <a:outerShdw blurRad="254000" dist="50800" dir="2700000" algn="bl" rotWithShape="0">
              <a:srgbClr val="9B30FF">
                <a:alpha val="6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05740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2788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9B3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6000" dirty="0"/>
          </a:p>
        </p:txBody>
      </p:sp>
      <p:sp>
        <p:nvSpPr>
          <p:cNvPr id="14" name="Text 10"/>
          <p:cNvSpPr/>
          <p:nvPr/>
        </p:nvSpPr>
        <p:spPr>
          <a:xfrm>
            <a:off x="3310128" y="35478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Handwash Station Usage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55848" y="40416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counted automatically — compliance data in real time.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63056" y="1920240"/>
            <a:ext cx="2743200" cy="2926080"/>
          </a:xfrm>
          <a:prstGeom prst="rect">
            <a:avLst/>
          </a:prstGeom>
          <a:solidFill>
            <a:srgbClr val="222222"/>
          </a:solidFill>
          <a:ln w="25400">
            <a:solidFill>
              <a:srgbClr val="00F5FF"/>
            </a:solidFill>
            <a:prstDash val="solid"/>
          </a:ln>
          <a:effectLst>
            <a:outerShdw blurRad="254000" dist="50800" dir="2700000" algn="bl" rotWithShape="0">
              <a:srgbClr val="00F5FF">
                <a:alpha val="6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2057400"/>
            <a:ext cx="685800" cy="685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4496" y="2788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6000" dirty="0"/>
          </a:p>
        </p:txBody>
      </p:sp>
      <p:sp>
        <p:nvSpPr>
          <p:cNvPr id="19" name="Text 14"/>
          <p:cNvSpPr/>
          <p:nvPr/>
        </p:nvSpPr>
        <p:spPr>
          <a:xfrm>
            <a:off x="6254496" y="354787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Detects Dirty Surfaces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300216" y="40416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flags hygiene issues before inspectors arrive.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3657600" cy="5143500"/>
          </a:xfrm>
          <a:prstGeom prst="rect">
            <a:avLst/>
          </a:prstGeom>
          <a:solidFill>
            <a:srgbClr val="00FF8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 —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 TO</a:t>
            </a:r>
            <a:endParaRPr lang="en-US" sz="4000" dirty="0"/>
          </a:p>
          <a:p>
            <a:pPr marL="0" indent="0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ANOTHER USE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764792"/>
            <a:ext cx="2560320" cy="310896"/>
          </a:xfrm>
          <a:prstGeom prst="rect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647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ELSE CAN IT DO?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350008"/>
            <a:ext cx="274320" cy="274320"/>
          </a:xfrm>
          <a:prstGeom prst="line">
            <a:avLst/>
          </a:prstGeom>
          <a:solidFill>
            <a:srgbClr val="00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1343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3134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tourists find safe street food instantly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026664"/>
            <a:ext cx="274320" cy="274320"/>
          </a:xfrm>
          <a:prstGeom prst="line">
            <a:avLst/>
          </a:prstGeom>
          <a:solidFill>
            <a:srgbClr val="FF2D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9008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99008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delivery apps vet &amp; select vendors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7200" y="3703320"/>
            <a:ext cx="274320" cy="274320"/>
          </a:xfrm>
          <a:prstGeom prst="line">
            <a:avLst/>
          </a:prstGeom>
          <a:solidFill>
            <a:srgbClr val="F5FF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6674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6667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municipalities prioritize inspections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457200" y="4379976"/>
            <a:ext cx="274320" cy="274320"/>
          </a:xfrm>
          <a:prstGeom prst="line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34340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3434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vendors get micro-loans based on hygiene rating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-914400"/>
            <a:ext cx="64008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0" b="1" dirty="0">
                <a:solidFill>
                  <a:srgbClr val="FF2D78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2D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 —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ELIMINATE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194560" cy="310896"/>
          </a:xfrm>
          <a:prstGeom prst="rect">
            <a:avLst/>
          </a:prstGeom>
          <a:solidFill>
            <a:srgbClr val="FF2D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BE REMOVED?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841248"/>
          </a:xfrm>
          <a:prstGeom prst="rect">
            <a:avLst/>
          </a:prstGeom>
          <a:solidFill>
            <a:srgbClr val="111111"/>
          </a:solidFill>
          <a:ln w="25400">
            <a:solidFill>
              <a:srgbClr val="FF2D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65960"/>
            <a:ext cx="502920" cy="841248"/>
          </a:xfrm>
          <a:prstGeom prst="rect">
            <a:avLst/>
          </a:prstGeom>
          <a:solidFill>
            <a:srgbClr val="FF2D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97280" y="202082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human bias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38658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inspector gut-feel with objective sensor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41248"/>
          </a:xfrm>
          <a:prstGeom prst="rect">
            <a:avLst/>
          </a:prstGeom>
          <a:solidFill>
            <a:srgbClr val="111111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502920" cy="8412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97280" y="298094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Complicated paperwork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34670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Digital-first, zero paper forms for vendors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841248"/>
          </a:xfrm>
          <a:prstGeom prst="rect">
            <a:avLst/>
          </a:prstGeom>
          <a:solidFill>
            <a:srgbClr val="111111"/>
          </a:solidFill>
          <a:ln w="25400">
            <a:solidFill>
              <a:srgbClr val="9B3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86200"/>
            <a:ext cx="502920" cy="841248"/>
          </a:xfrm>
          <a:prstGeom prst="rect">
            <a:avLst/>
          </a:prstGeom>
          <a:solidFill>
            <a:srgbClr val="9B3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8620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097280" y="394106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3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inspections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430682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auto-clears low-risk stalls, focus resources on flagged ones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3200400" cy="3200400"/>
          </a:xfrm>
          <a:prstGeom prst="line">
            <a:avLst/>
          </a:prstGeom>
          <a:solidFill>
            <a:srgbClr val="9B30FF">
              <a:alpha val="12000"/>
            </a:srgbClr>
          </a:solidFill>
          <a:ln w="25400">
            <a:solidFill>
              <a:srgbClr val="9B30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731520"/>
            <a:ext cx="2651760" cy="265176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00F5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B3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 —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REVERSE /</a:t>
            </a:r>
            <a:endParaRPr lang="en-US" sz="4000" dirty="0"/>
          </a:p>
          <a:p>
            <a:pPr marL="0" indent="0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REARRANGE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764792"/>
            <a:ext cx="3108960" cy="310896"/>
          </a:xfrm>
          <a:prstGeom prst="rect">
            <a:avLst/>
          </a:prstGeom>
          <a:solidFill>
            <a:srgbClr val="9B3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647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CUSTOMERS BECOME INSPECTORS?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566928" cy="457200"/>
          </a:xfrm>
          <a:prstGeom prst="rect">
            <a:avLst/>
          </a:prstGeom>
          <a:solidFill>
            <a:srgbClr val="00F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1284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0664" y="2670048"/>
            <a:ext cx="0" cy="100584"/>
          </a:xfrm>
          <a:prstGeom prst="line">
            <a:avLst/>
          </a:prstGeom>
          <a:noFill/>
          <a:ln w="19050">
            <a:solidFill>
              <a:srgbClr val="00F5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267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upload photos of the stall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770632"/>
            <a:ext cx="566928" cy="457200"/>
          </a:xfrm>
          <a:prstGeom prst="rect">
            <a:avLst/>
          </a:prstGeom>
          <a:solidFill>
            <a:srgbClr val="F5FF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063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0664" y="3227832"/>
            <a:ext cx="0" cy="100584"/>
          </a:xfrm>
          <a:prstGeom prst="line">
            <a:avLst/>
          </a:prstGeom>
          <a:noFill/>
          <a:ln w="19050">
            <a:solidFill>
              <a:srgbClr val="F5FF0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825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checks cleanliness from images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566928" cy="457200"/>
          </a:xfrm>
          <a:prstGeom prst="rect">
            <a:avLst/>
          </a:prstGeom>
          <a:solidFill>
            <a:srgbClr val="FF2D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2841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0664" y="3785616"/>
            <a:ext cx="0" cy="100584"/>
          </a:xfrm>
          <a:prstGeom prst="line">
            <a:avLst/>
          </a:prstGeom>
          <a:noFill/>
          <a:ln w="19050">
            <a:solidFill>
              <a:srgbClr val="FF2D78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accumulate in real time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566928" cy="457200"/>
          </a:xfrm>
          <a:prstGeom prst="rect">
            <a:avLst/>
          </a:prstGeom>
          <a:solidFill>
            <a:srgbClr val="00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862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0664" y="4343400"/>
            <a:ext cx="0" cy="100584"/>
          </a:xfrm>
          <a:prstGeom prst="line">
            <a:avLst/>
          </a:prstGeom>
          <a:noFill/>
          <a:ln w="1905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39410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 score changes dynamically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443984"/>
            <a:ext cx="566928" cy="4572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4398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4498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only visits suspicious stalls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FF2D7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5080">
            <a:solidFill>
              <a:srgbClr val="FF2D7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5080">
            <a:solidFill>
              <a:srgbClr val="FF2D7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5080">
            <a:solidFill>
              <a:srgbClr val="FF2D78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FF2D78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5080">
            <a:solidFill>
              <a:srgbClr val="FF2D78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5080">
            <a:solidFill>
              <a:srgbClr val="FF2D78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00F5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950976"/>
            <a:ext cx="6400800" cy="2560320"/>
          </a:xfrm>
          <a:prstGeom prst="rect">
            <a:avLst/>
          </a:prstGeom>
          <a:solidFill>
            <a:srgbClr val="00F5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35024" y="886968"/>
            <a:ext cx="6400800" cy="2560320"/>
          </a:xfrm>
          <a:prstGeom prst="rect">
            <a:avLst/>
          </a:prstGeom>
          <a:solidFill>
            <a:srgbClr val="FF2D78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914400"/>
            <a:ext cx="6400800" cy="2560320"/>
          </a:xfrm>
          <a:prstGeom prst="rect">
            <a:avLst/>
          </a:prstGeom>
          <a:solidFill>
            <a:srgbClr val="0A0A0A"/>
          </a:solidFill>
          <a:ln w="38100">
            <a:solidFill>
              <a:srgbClr val="FF2D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100584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6600" dirty="0"/>
          </a:p>
        </p:txBody>
      </p:sp>
      <p:sp>
        <p:nvSpPr>
          <p:cNvPr id="24" name="Shape 22"/>
          <p:cNvSpPr/>
          <p:nvPr/>
        </p:nvSpPr>
        <p:spPr>
          <a:xfrm>
            <a:off x="2011680" y="2423160"/>
            <a:ext cx="5120640" cy="0"/>
          </a:xfrm>
          <a:prstGeom prst="line">
            <a:avLst/>
          </a:prstGeom>
          <a:noFill/>
          <a:ln w="25400">
            <a:solidFill>
              <a:srgbClr val="FF2D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248716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5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Faizan Rabbani</a:t>
            </a:r>
            <a:r>
              <a:rPr lang="en-US" sz="14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EC2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r>
              <a:rPr lang="en-US" sz="1600" dirty="0">
                <a:solidFill>
                  <a:srgbClr val="F5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FF2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Pavitra Patil</a:t>
            </a:r>
            <a:r>
              <a:rPr lang="en-US" sz="1400" dirty="0">
                <a:solidFill>
                  <a:srgbClr val="F5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</a:t>
            </a:r>
            <a:r>
              <a:rPr lang="en-US" sz="16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Shalaka Sonje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2D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MINDMESH  ✦  MAKERMANIA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403</Words>
  <Application>Microsoft Office PowerPoint</Application>
  <PresentationFormat>On-screen Show (16:9)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SCAMPER — MindMesh</dc:title>
  <dc:subject>PptxGenJS Presentation</dc:subject>
  <dc:creator>PptxGenJS</dc:creator>
  <cp:lastModifiedBy>Faizan Rabbani</cp:lastModifiedBy>
  <cp:revision>2</cp:revision>
  <dcterms:created xsi:type="dcterms:W3CDTF">2026-06-10T06:44:17Z</dcterms:created>
  <dcterms:modified xsi:type="dcterms:W3CDTF">2026-06-10T06:51:41Z</dcterms:modified>
</cp:coreProperties>
</file>